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371600"/>
            <a:ext cx="1371600" cy="45720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0ECE3"/>
                </a:solidFill>
                <a:latin typeface="Microsoft YaHei"/>
              </a:rPr>
              <a:t>传统企业 AI 转型之道</a:t>
            </a:r>
          </a:p>
          <a:p>
            <a:r>
              <a:rPr sz="4400" b="1">
                <a:solidFill>
                  <a:srgbClr val="C8A870"/>
                </a:solidFill>
                <a:latin typeface="Microsoft YaHei"/>
              </a:rPr>
              <a:t>少走弯路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2DCD0"/>
                </a:solidFill>
                <a:latin typeface="Microsoft YaHei"/>
              </a:rPr>
              <a:t>从"工具焦虑"回到"业务场景"：先找到一个能提效、能降本、能算清账的流程。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0"/>
            <a:ext cx="2194560" cy="502920"/>
          </a:xfrm>
          <a:prstGeom prst="roundRect">
            <a:avLst/>
          </a:prstGeom>
          <a:solidFill>
            <a:srgbClr val="232F55"/>
          </a:solidFill>
          <a:ln w="635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C8A870"/>
                </a:solidFill>
                <a:latin typeface="Microsoft YaHei"/>
              </a:rPr>
              <a:t>01 · 戳痛点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572000"/>
            <a:ext cx="2194560" cy="502920"/>
          </a:xfrm>
          <a:prstGeom prst="roundRect">
            <a:avLst/>
          </a:prstGeom>
          <a:solidFill>
            <a:srgbClr val="232F55"/>
          </a:solidFill>
          <a:ln w="635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C8A870"/>
                </a:solidFill>
                <a:latin typeface="Microsoft YaHei"/>
              </a:rPr>
              <a:t>02 · 讲经历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79" y="4572000"/>
            <a:ext cx="2194560" cy="502920"/>
          </a:xfrm>
          <a:prstGeom prst="roundRect">
            <a:avLst/>
          </a:prstGeom>
          <a:solidFill>
            <a:srgbClr val="232F55"/>
          </a:solidFill>
          <a:ln w="635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C8A870"/>
                </a:solidFill>
                <a:latin typeface="Microsoft YaHei"/>
              </a:rPr>
              <a:t>03 · 落案例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486400"/>
            <a:ext cx="731520" cy="27432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5349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0ECE3"/>
                </a:solidFill>
                <a:latin typeface="Microsoft YaHei"/>
              </a:rPr>
              <a:t>肖洒</a:t>
            </a:r>
          </a:p>
          <a:p>
            <a:r>
              <a:rPr sz="1100" b="0">
                <a:solidFill>
                  <a:srgbClr val="96A1B5"/>
                </a:solidFill>
                <a:latin typeface="Microsoft YaHei"/>
              </a:rPr>
              <a:t>原银行金融业高级 AI 产品经理 · 现传统企业 AI 转型负责人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6400800"/>
            <a:ext cx="2011680" cy="365760"/>
          </a:xfrm>
          <a:prstGeom prst="roundRect">
            <a:avLst/>
          </a:prstGeom>
          <a:solidFill>
            <a:srgbClr val="232F55"/>
          </a:solidFill>
          <a:ln w="635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>
                <a:solidFill>
                  <a:srgbClr val="96A1B5"/>
                </a:solidFill>
                <a:latin typeface="Arial"/>
              </a:rPr>
              <a:t>HOOK / STORY / ROI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01 · 开场钩子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The Tool Maze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工具清单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01 · 开场钩子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很多 AI 课，第一步就把老板推进了"安装清单"。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67712"/>
            <a:ext cx="8138160" cy="457200"/>
          </a:xfrm>
          <a:prstGeom prst="roundRect">
            <a:avLst/>
          </a:prstGeom>
          <a:solidFill>
            <a:srgbClr val="2A3455"/>
          </a:solidFill>
          <a:ln w="1524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EAD4A5"/>
                </a:solidFill>
                <a:latin typeface="Microsoft YaHei"/>
              </a:rPr>
              <a:t>不是这些工具没价值，而是老板不该从这里开始。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1828800" cy="274320"/>
          </a:xfrm>
          <a:prstGeom prst="roundRect">
            <a:avLst/>
          </a:prstGeom>
          <a:solidFill>
            <a:srgbClr val="232F55"/>
          </a:solidFill>
          <a:ln w="381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EAD4A5"/>
                </a:solidFill>
                <a:latin typeface="Arial"/>
              </a:rPr>
              <a:t>VS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3240"/>
            <a:ext cx="1828800" cy="274320"/>
          </a:xfrm>
          <a:prstGeom prst="roundRect">
            <a:avLst/>
          </a:prstGeom>
          <a:solidFill>
            <a:srgbClr val="232F55"/>
          </a:solidFill>
          <a:ln w="381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EAD4A5"/>
                </a:solidFill>
                <a:latin typeface="Arial"/>
              </a:rPr>
              <a:t>Cursor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1828800" cy="274320"/>
          </a:xfrm>
          <a:prstGeom prst="roundRect">
            <a:avLst/>
          </a:prstGeom>
          <a:solidFill>
            <a:srgbClr val="232F55"/>
          </a:solidFill>
          <a:ln w="381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EAD4A5"/>
                </a:solidFill>
                <a:latin typeface="Arial"/>
              </a:rPr>
              <a:t>Python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1828800" cy="274320"/>
          </a:xfrm>
          <a:prstGeom prst="roundRect">
            <a:avLst/>
          </a:prstGeom>
          <a:solidFill>
            <a:srgbClr val="232F55"/>
          </a:solidFill>
          <a:ln w="381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EAD4A5"/>
                </a:solidFill>
                <a:latin typeface="Arial"/>
              </a:rPr>
              <a:t>Node.js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59"/>
            <a:ext cx="1828800" cy="274320"/>
          </a:xfrm>
          <a:prstGeom prst="roundRect">
            <a:avLst/>
          </a:prstGeom>
          <a:solidFill>
            <a:srgbClr val="232F55"/>
          </a:solidFill>
          <a:ln w="381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EAD4A5"/>
                </a:solidFill>
                <a:latin typeface="Arial"/>
              </a:rPr>
              <a:t>Git / GitHub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43399"/>
            <a:ext cx="1828800" cy="274320"/>
          </a:xfrm>
          <a:prstGeom prst="roundRect">
            <a:avLst/>
          </a:prstGeom>
          <a:solidFill>
            <a:srgbClr val="232F55"/>
          </a:solidFill>
          <a:ln w="381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EAD4A5"/>
                </a:solidFill>
                <a:latin typeface="Arial"/>
              </a:rPr>
              <a:t>Docker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63439"/>
            <a:ext cx="1828800" cy="274320"/>
          </a:xfrm>
          <a:prstGeom prst="roundRect">
            <a:avLst/>
          </a:prstGeom>
          <a:solidFill>
            <a:srgbClr val="232F55"/>
          </a:solidFill>
          <a:ln w="381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EAD4A5"/>
                </a:solidFill>
                <a:latin typeface="Arial"/>
              </a:rPr>
              <a:t>Anaconda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83479"/>
            <a:ext cx="1828800" cy="274320"/>
          </a:xfrm>
          <a:prstGeom prst="roundRect">
            <a:avLst/>
          </a:prstGeom>
          <a:solidFill>
            <a:srgbClr val="232F55"/>
          </a:solidFill>
          <a:ln w="381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EAD4A5"/>
                </a:solidFill>
                <a:latin typeface="Arial"/>
              </a:rPr>
              <a:t>Jupyter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03519"/>
            <a:ext cx="1828800" cy="274320"/>
          </a:xfrm>
          <a:prstGeom prst="roundRect">
            <a:avLst/>
          </a:prstGeom>
          <a:solidFill>
            <a:srgbClr val="232F55"/>
          </a:solidFill>
          <a:ln w="381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EAD4A5"/>
                </a:solidFill>
                <a:latin typeface="Arial"/>
              </a:rPr>
              <a:t>Postman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23559"/>
            <a:ext cx="1828800" cy="274320"/>
          </a:xfrm>
          <a:prstGeom prst="roundRect">
            <a:avLst/>
          </a:prstGeom>
          <a:solidFill>
            <a:srgbClr val="232F55"/>
          </a:solidFill>
          <a:ln w="381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EAD4A5"/>
                </a:solidFill>
                <a:latin typeface="Arial"/>
              </a:rPr>
              <a:t>API Key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943599"/>
            <a:ext cx="1828800" cy="274320"/>
          </a:xfrm>
          <a:prstGeom prst="roundRect">
            <a:avLst/>
          </a:prstGeom>
          <a:solidFill>
            <a:srgbClr val="232F55"/>
          </a:solidFill>
          <a:ln w="381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EAD4A5"/>
                </a:solidFill>
                <a:latin typeface="Arial"/>
              </a:rPr>
              <a:t>Dify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263639"/>
            <a:ext cx="1828800" cy="274320"/>
          </a:xfrm>
          <a:prstGeom prst="roundRect">
            <a:avLst/>
          </a:prstGeom>
          <a:solidFill>
            <a:srgbClr val="232F55"/>
          </a:solidFill>
          <a:ln w="381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EAD4A5"/>
                </a:solidFill>
                <a:latin typeface="Arial"/>
              </a:rPr>
              <a:t>Coze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02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02 · 先戳中他们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Why It Feels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工具陷阱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02 · 先戳中他们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老板学会装环境，公司就完成 AI 转型了吗？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67712"/>
            <a:ext cx="8138160" cy="640080"/>
          </a:xfrm>
          <a:prstGeom prst="roundRect">
            <a:avLst/>
          </a:prstGeom>
          <a:solidFill>
            <a:srgbClr val="2A3455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300" b="1">
                <a:solidFill>
                  <a:srgbClr val="F0ECE3"/>
                </a:solidFill>
                <a:latin typeface="Microsoft YaHei"/>
              </a:rPr>
              <a:t>不是。那只是把企业的一把手，临时训练成半个工程师。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03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03 · 真实痛点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What Bosses Actually 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老板心声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03 · 真实痛点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很多老板听完课以后，真正卡住的是这三句话。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D4A5"/>
                </a:solidFill>
                <a:latin typeface="Microsoft YaHei"/>
              </a:rPr>
              <a:t>→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23744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D4A5"/>
                </a:solidFill>
                <a:latin typeface="Microsoft YaHei"/>
              </a:rPr>
              <a:t>→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79776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D4A5"/>
                </a:solidFill>
                <a:latin typeface="Microsoft YaHei"/>
              </a:rPr>
              <a:t>→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04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04 · 从工具回到业务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Promise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今天讲什么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04 · 从工具回到业务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所以今天不讲"怎么装十个工具"，那讲什么？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哪个环节每天重复、标准化、靠人催、靠人抄、靠人总结？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15184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先把一个真实流程做成 MVP，而不是先买一堆账号。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62656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用时间、产出、差错、成本算 ROI；算不清就不要扩张。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10127"/>
            <a:ext cx="8138160" cy="457200"/>
          </a:xfrm>
          <a:prstGeom prst="roundRect">
            <a:avLst/>
          </a:prstGeom>
          <a:solidFill>
            <a:srgbClr val="2A3455"/>
          </a:solidFill>
          <a:ln w="1524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EAD4A5"/>
                </a:solidFill>
                <a:latin typeface="Microsoft YaHei"/>
              </a:rPr>
              <a:t>老板要抓的是"转型路线"，不是"工具教程"。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05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05 · 不是理论课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Experience Before Opinion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讲师经历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05 · 不是理论课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我为什么会这样讲：因为我见过两种完全不同的 AI 现场。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银行金融业 AI 产品经理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15184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传统企业 AI 转型负责人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62656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在金融行业，AI 项目天然绕不开流程、权限、数据、审计和 ROI。不能只演示，必须能被业务使用、能被复盘。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10127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进入传统企业后，我发现老板不是不重视 AI，而是很多培训把"企业转型"讲成了"个人装机"。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599"/>
            <a:ext cx="8138160" cy="457200"/>
          </a:xfrm>
          <a:prstGeom prst="roundRect">
            <a:avLst/>
          </a:prstGeom>
          <a:solidFill>
            <a:srgbClr val="2A3455"/>
          </a:solidFill>
          <a:ln w="1524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EAD4A5"/>
                </a:solidFill>
                <a:latin typeface="Microsoft YaHei"/>
              </a:rPr>
              <a:t>我的判断：传统企业最缺的不是工具清单，而是从一个场景跑通到组织复制的方法。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33087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[过去] 银行金融业 AI 产品经理 在金融行业，AI 项目天然绕不开流程、权限、数据、审计和 ROI。不能只演示，必须能被业务使用、能被复盘。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4133087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[现在] 传统企业 AI 转型负责人 进入传统企业后，我发现老板不是不重视 AI，而是很多培训把"企业转型"讲成了"个人装机"。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06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Core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Decision Before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核心命题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Core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传统企业 AI 转型，老板真正要决策什么？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67712"/>
            <a:ext cx="8138160" cy="640080"/>
          </a:xfrm>
          <a:prstGeom prst="roundRect">
            <a:avLst/>
          </a:prstGeom>
          <a:solidFill>
            <a:srgbClr val="2A3455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300" b="1">
                <a:solidFill>
                  <a:srgbClr val="F0ECE3"/>
                </a:solidFill>
                <a:latin typeface="Microsoft YaHei"/>
              </a:rPr>
              <a:t>工具是术，转型是道。术解决"怎么用"，道解决"值不值得做、先做哪里、谁负责、怎么算账"。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07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06 · 当前误区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Wrong Starting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三个误区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06 · 当前误区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多数企业不是败在不会用 AI，而是败在一开始就问错问题。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以为买课 = 落地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15184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以为工具 = 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62656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以为 AI 负责人 = 万能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10127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工具安装、功能演示、截图很热闹，但没有落到岗位任务和业务结果。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59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采购 API、部署开源框架，却没有嵌入流程、权限、数据和验收指标。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0507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招一个 AI 产品或工程师，就期待所有部门自动变聪明、自动提效。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52544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D4A5"/>
                </a:solidFill>
                <a:latin typeface="Microsoft YaHei"/>
              </a:rPr>
              <a:t>→ 本质：把"知道"当成"做到"。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08576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D4A5"/>
                </a:solidFill>
                <a:latin typeface="Microsoft YaHei"/>
              </a:rPr>
              <a:t>→ 本质：工具堆砌不等于流程重构。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64608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D4A5"/>
                </a:solidFill>
                <a:latin typeface="Microsoft YaHei"/>
              </a:rPr>
              <a:t>→ 本质：转型需要业务配合和组织机制。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120640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[01] 以为买课 = 落地 工具安装、功能演示、截图很热闹，但没有落到岗位任务和业务结果。 本质：把"知道"当成"做到"。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5120640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[02] 以为工具 = 方案 采购 API、部署开源框架，却没有嵌入流程、权限、数据和验收指标。 本质：工具堆砌不等于流程重构。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6419088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[03] 以为 AI 负责人 = 万能 招一个 AI 产品或工程师，就期待所有部门自动变聪明、自动提效。 本质：转型需要业务配合和组织机制。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08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07 · 老板真正该问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Three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老板三问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07 · 老板真正该问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先别问"用哪个工具"，先问这三个问题。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哪个环节重复劳动最多、最标准化？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15184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我们的数据、文档、流程能不能支撑 AI 跑起来？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62656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投入 X 万做 3 个月，能得到什么可衡量结果？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10127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高频、规则清楚、输入输出稳定，是最适合先做 AI 的地方。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59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信息如果散在微信、个人电脑和口头经验里，AI 很难稳定产出。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0507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节省工时、提升产出、减少差错、释放人力，必须有一个能复盘的账本。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09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08 · 理解模型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Capability Into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两层模型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08 · 理解模型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企业 AI 落地，就是把"智能能力"接到"业务动作"里。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DeepSeek / OpenAI / Claude 等模型提供能力，老板只需要知道选择原则和成本边界。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15184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自动化工具、企微/飞书机器人、内部网页和业务系统负责把 AI 结果执行到流程里。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62656"/>
            <a:ext cx="8138160" cy="457200"/>
          </a:xfrm>
          <a:prstGeom prst="roundRect">
            <a:avLst/>
          </a:prstGeom>
          <a:solidFill>
            <a:srgbClr val="2A3455"/>
          </a:solidFill>
          <a:ln w="1524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EAD4A5"/>
                </a:solidFill>
                <a:latin typeface="Microsoft YaHei"/>
              </a:rPr>
              <a:t>具体怎么配置，是 AI 负责人和技术团队的事；老板要决策的是先接到哪个流程。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09 · 道大于术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Owner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三个决策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09 · 道大于术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老板只做三个决策，不需要学习十个工具。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选切入点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15184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搭基础设施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62656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建提效文化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10127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高频、标准化、低风险、可衡量。先挑 1-2 个场景做 MVP。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59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统一 API 账号、统一使用入口、统一负责人，避免每个人各玩各的。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0507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考核"省了多少时间"，不考核"用了多少次 AI"。第一批试点员工要给激励。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52544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[01] 选切入点 高频、标准化、低风险、可衡量。先挑 1-2 个场景做 MVP。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4352544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[02] 搭基础设施 统一 API 账号、统一使用入口、统一负责人，避免每个人各玩各的。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650992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[03] 建提效文化 考核"省了多少时间"，不考核"用了多少次 AI"。第一批试点员工要给激励。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10 · 落地路径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Three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三阶段路径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10 · 落地路径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AI 转型不要一步到位，分三阶段推进。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启蒙 + 试点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15184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工作流重构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62656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组织能力建设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10127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跑通一个 MVP，拿到第一组可量化提效数据。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59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把 AI 从"辅助工具"嵌入流程节点，减少人工搬运和等待。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0507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沉淀知识库、智能体、SOP 和内部 AI 能力中心。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52544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2-4 周 启蒙 + 试点 跑通一个 MVP，拿到第一组可量化提效数据。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4352544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1-3 个月 工作流重构 把 AI 从"辅助工具"嵌入流程节点，减少人工搬运和等待。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650992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长期 组织能力建设 沉淀知识库、智能体、SOP 和内部 AI 能力中心。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11 · 第一批场景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MVP Candidate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试点清单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11 · 第一批场景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第一个 MVP，只选"高频、低风险、可验收"的小场景。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67712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销售跟进客户记录摘要、下一步建议、自动提醒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267712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会议纪要自动纪要、待办、责任人、风险点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日报周报草稿生成、格式统一、重点提炼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3566160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对账核对辅助校验异常、生成复核清单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64608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员工考核触达自动收集、自动提醒、人工兜底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4864608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知识问答制度、FAQ、SOP 的内部检索入口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267712"/>
            <a:ext cx="1828800" cy="274320"/>
          </a:xfrm>
          <a:prstGeom prst="roundRect">
            <a:avLst/>
          </a:prstGeom>
          <a:solidFill>
            <a:srgbClr val="232F55"/>
          </a:solidFill>
          <a:ln w="381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EAD4A5"/>
                </a:solidFill>
                <a:latin typeface="Arial"/>
              </a:rPr>
              <a:t>重复次数高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87752"/>
            <a:ext cx="1828800" cy="274320"/>
          </a:xfrm>
          <a:prstGeom prst="roundRect">
            <a:avLst/>
          </a:prstGeom>
          <a:solidFill>
            <a:srgbClr val="232F55"/>
          </a:solidFill>
          <a:ln w="381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EAD4A5"/>
                </a:solidFill>
                <a:latin typeface="Arial"/>
              </a:rPr>
              <a:t>规则相对清楚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07792"/>
            <a:ext cx="1828800" cy="274320"/>
          </a:xfrm>
          <a:prstGeom prst="roundRect">
            <a:avLst/>
          </a:prstGeom>
          <a:solidFill>
            <a:srgbClr val="232F55"/>
          </a:solidFill>
          <a:ln w="381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EAD4A5"/>
                </a:solidFill>
                <a:latin typeface="Arial"/>
              </a:rPr>
              <a:t>敏感风险低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27832"/>
            <a:ext cx="1828800" cy="274320"/>
          </a:xfrm>
          <a:prstGeom prst="roundRect">
            <a:avLst/>
          </a:prstGeom>
          <a:solidFill>
            <a:srgbClr val="232F55"/>
          </a:solidFill>
          <a:ln w="381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EAD4A5"/>
                </a:solidFill>
                <a:latin typeface="Arial"/>
              </a:rPr>
              <a:t>两周能验收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12 · 案例一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Sales Follow-Up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案例：销售跟进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12 · 案例一：直接关联营收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销售跟进助手：不是替销售聊天，而是让机会不再漏掉。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AI 识别下一步动作。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15184"/>
            <a:ext cx="8138160" cy="457200"/>
          </a:xfrm>
          <a:prstGeom prst="roundRect">
            <a:avLst/>
          </a:prstGeom>
          <a:solidFill>
            <a:srgbClr val="2A3455"/>
          </a:solidFill>
          <a:ln w="1524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EAD4A5"/>
                </a:solidFill>
                <a:latin typeface="Microsoft YaHei"/>
              </a:rPr>
              <a:t>老板会关心这个，因为它不是"员工少打一份字"，而是"销售机会少漏一点"。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90672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D4A5"/>
                </a:solidFill>
                <a:latin typeface="Microsoft YaHei"/>
              </a:rPr>
              <a:t>→ 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46704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D4A5"/>
                </a:solidFill>
                <a:latin typeface="Microsoft YaHei"/>
              </a:rPr>
              <a:t>→ 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02736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D4A5"/>
                </a:solidFill>
                <a:latin typeface="Microsoft YaHei"/>
              </a:rPr>
              <a:t>→ 输出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58768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D4A5"/>
                </a:solidFill>
                <a:latin typeface="Microsoft YaHei"/>
              </a:rPr>
              <a:t>→ 复盘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14800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输入客户记录 / 微信摘要 / CRM 字段把散落信息先聚合。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4114800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判断7 天未跟进、报价未回、异议未处理AI 识别下一步动作。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413248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输出跟进优先级 + 话术草稿销售确认后再发送。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5413248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复盘跟进率、响应率、成交推进用业务指标看效果。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13 · 案例二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Digital Employee Reminder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案例：考核触达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13 · 案例二：管理提效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员工考核自动触达：从人工催办到数字员工提醒。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人工导出、核对、触达员工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15184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数字员工收集、判断、同步提醒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62656"/>
            <a:ext cx="8138160" cy="457200"/>
          </a:xfrm>
          <a:prstGeom prst="roundRect">
            <a:avLst/>
          </a:prstGeom>
          <a:solidFill>
            <a:srgbClr val="2A3455"/>
          </a:solidFill>
          <a:ln w="1524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EAD4A5"/>
                </a:solidFill>
                <a:latin typeface="Microsoft YaHei"/>
              </a:rPr>
              <a:t>这个场景的关键不是 AI 多聪明，而是规则清晰、低风险、能快速验收。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38144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2DCD0"/>
                </a:solidFill>
                <a:latin typeface="Microsoft YaHei"/>
              </a:rPr>
              <a:t>• 人工从系统导出数据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94176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2DCD0"/>
                </a:solidFill>
                <a:latin typeface="Microsoft YaHei"/>
              </a:rPr>
              <a:t>• 手动核对达标情况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50208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2DCD0"/>
                </a:solidFill>
                <a:latin typeface="Microsoft YaHei"/>
              </a:rPr>
              <a:t>• 逐个同步企微提醒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2DCD0"/>
                </a:solidFill>
                <a:latin typeface="Microsoft YaHei"/>
              </a:rPr>
              <a:t>• 每周重复，容易漏发漏核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62272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2DCD0"/>
                </a:solidFill>
                <a:latin typeface="Microsoft YaHei"/>
              </a:rPr>
              <a:t>• 定时读取考核数据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18304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2DCD0"/>
                </a:solidFill>
                <a:latin typeface="Microsoft YaHei"/>
              </a:rPr>
              <a:t>• 按规则识别不达标员工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74336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2DCD0"/>
                </a:solidFill>
                <a:latin typeface="Microsoft YaHei"/>
              </a:rPr>
              <a:t>• 自动同步企微提醒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30368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2DCD0"/>
                </a:solidFill>
                <a:latin typeface="Microsoft YaHei"/>
              </a:rPr>
              <a:t>• 异常情况交给人工复核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[改造前] 人工导出、核对、触达员工 人工从系统导出数据 手动核对达标情况 逐个同步企微提醒 每周重复，容易漏发漏核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5486400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[改造后] 数字员工收集、判断、同步提醒 定时读取考核数据 按规则识别不达标员工 自动同步企微提醒 异常情况交给人工复核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14 · 案例三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Meeting To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案例：会议周报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14 · 案例三：让会议变成动作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会议纪要 + 周报，不是写得更漂亮，而是让责任不丢。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谁说了什么不重要，形成什么决定重要。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15184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从"记录"变成"跟进"。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62656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人做判断，系统做催办。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10127"/>
            <a:ext cx="8138160" cy="457200"/>
          </a:xfrm>
          <a:prstGeom prst="roundRect">
            <a:avLst/>
          </a:prstGeom>
          <a:solidFill>
            <a:srgbClr val="2A3455"/>
          </a:solidFill>
          <a:ln w="1524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EAD4A5"/>
                </a:solidFill>
                <a:latin typeface="Microsoft YaHei"/>
              </a:rPr>
              <a:t>传统企业很多效率损耗，不在"不会写"，而在"说完没人跟"。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85615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D4A5"/>
                </a:solidFill>
                <a:latin typeface="Microsoft YaHei"/>
              </a:rPr>
              <a:t>→ 会议后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41648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D4A5"/>
                </a:solidFill>
                <a:latin typeface="Microsoft YaHei"/>
              </a:rPr>
              <a:t>→ 待办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D4A5"/>
                </a:solidFill>
                <a:latin typeface="Microsoft YaHei"/>
              </a:rPr>
              <a:t>→ 周报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53712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D4A5"/>
                </a:solidFill>
                <a:latin typeface="Microsoft YaHei"/>
              </a:rPr>
              <a:t>→ 追踪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9744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会议后自动提炼结论谁说了什么不重要，形成什么决定重要。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4809744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待办责任人 / 截止时间 / 风险点从"记录"变成"跟进"。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108192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周报按项目自动汇总减少管理层来回追问。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6108192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追踪逾期提醒 + 异常升级人做判断，系统做催办。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15 · 案例四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Finance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案例：财务对账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15 · 案例四：低风险财务辅助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对账核对：AI 不做财务决策，只帮人更快发现异常。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整理、匹配、标记异常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15184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审批、确认、责任判断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62656"/>
            <a:ext cx="8138160" cy="457200"/>
          </a:xfrm>
          <a:prstGeom prst="roundRect">
            <a:avLst/>
          </a:prstGeom>
          <a:solidFill>
            <a:srgbClr val="2A3455"/>
          </a:solidFill>
          <a:ln w="1524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EAD4A5"/>
                </a:solidFill>
                <a:latin typeface="Microsoft YaHei"/>
              </a:rPr>
              <a:t>高风险岗位也能用 AI，但第一步一定是"辅助核对"，不是"自动拍板"。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38144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2DCD0"/>
                </a:solidFill>
                <a:latin typeface="Microsoft YaHei"/>
              </a:rPr>
              <a:t>• 付款记录与发票、订单、出库单初步匹配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94176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2DCD0"/>
                </a:solidFill>
                <a:latin typeface="Microsoft YaHei"/>
              </a:rPr>
              <a:t>• 金额差异、日期异常、重复记录自动标红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50208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2DCD0"/>
                </a:solidFill>
                <a:latin typeface="Microsoft YaHei"/>
              </a:rPr>
              <a:t>• 生成待人工复核清单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2DCD0"/>
                </a:solidFill>
                <a:latin typeface="Microsoft YaHei"/>
              </a:rPr>
              <a:t>• 涉及付款、冲销、客户承诺，最终由人确认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62272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2DCD0"/>
                </a:solidFill>
                <a:latin typeface="Microsoft YaHei"/>
              </a:rPr>
              <a:t>• 保留日志，便于财务追溯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18304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2DCD0"/>
                </a:solidFill>
                <a:latin typeface="Microsoft YaHei"/>
              </a:rPr>
              <a:t>• 先从低风险、重复核对任务切入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74336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[适合 AI 的部分] 整理、匹配、标记异常 付款记录与发票、订单、出库单初步匹配 金额差异、日期异常、重复记录自动标红 生成待人工复核清单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4974336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[必须人工兜底] 审批、确认、责任判断 涉及付款、冲销、客户承诺，最终由人确认 保留日志，便于财务追溯 先从低风险、重复核对任务切入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16 · 示例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Illustrative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示例账本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16 · 示例 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老板要看的不是功能列表，而是一张能复盘的账。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注：这里是示例估算。真实项目要用企业自己的频次、岗位时薪、系统成本重新计算。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15184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E2DCD0"/>
                </a:solidFill>
                <a:latin typeface="Microsoft YaHei"/>
              </a:rPr>
              <a:t>场景 | 人力节省 | 月成本 | 可观察收益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E2DCD0"/>
                </a:solidFill>
                <a:latin typeface="Microsoft YaHei"/>
              </a:rPr>
              <a:t>销售跟进助手 | 5 人 × 每周 2 小时 | 约数百元 API / 工具 | 跟进率、响应率提升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E2DCD0"/>
                </a:solidFill>
                <a:latin typeface="Microsoft YaHei"/>
              </a:rPr>
              <a:t>考核自动触达 | 每周 4-8 小时 | 低 | 漏发漏核减少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18688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E2DCD0"/>
                </a:solidFill>
                <a:latin typeface="Microsoft YaHei"/>
              </a:rPr>
              <a:t>会议纪要 + 待办 | 管理层每周 3-6 小时 | 低 | 责任和截止时间清晰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19856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E2DCD0"/>
                </a:solidFill>
                <a:latin typeface="Microsoft YaHei"/>
              </a:rPr>
              <a:t>对账异常清单 | 财务每月 1-2 天 | 中 | 异常更早暴露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17 · 阶段二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Workflow Redesign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流程重构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17 · 阶段二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AI 不是贴在旧流程上的创可贴，而是重新设计流程的机会。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旧流程：人找信息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15184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新流程：信息找人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62656"/>
            <a:ext cx="8138160" cy="457200"/>
          </a:xfrm>
          <a:prstGeom prst="roundRect">
            <a:avLst/>
          </a:prstGeom>
          <a:solidFill>
            <a:srgbClr val="2A3455"/>
          </a:solidFill>
          <a:ln w="1524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EAD4A5"/>
                </a:solidFill>
                <a:latin typeface="Microsoft YaHei"/>
              </a:rPr>
              <a:t>客户数据主动触达的本质：从"被动搜索"变成"主动提醒该跟进谁"。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18 · 阶段三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Reusable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组织建设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18 · 阶段三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真正值钱的不是某个工具，而是组织可复用的 AI 资产。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内部知识库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15184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企业智能体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62656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AI 能力中心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10127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FAQ、话术、制度、文档、SOP 集中沉淀，解决"经验散落"。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59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企微/飞书机器人或内部网页入口，让员工直接问、直接用。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0507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1-2 人负责场景挖掘、工具配置、培训赋能和效果复盘。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52544"/>
            <a:ext cx="8138160" cy="457200"/>
          </a:xfrm>
          <a:prstGeom prst="roundRect">
            <a:avLst/>
          </a:prstGeom>
          <a:solidFill>
            <a:srgbClr val="2A3455"/>
          </a:solidFill>
          <a:ln w="1524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EAD4A5"/>
                </a:solidFill>
                <a:latin typeface="Microsoft YaHei"/>
              </a:rPr>
              <a:t>个人尝鲜 → 团队流程 → 组织资产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28031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[A] 内部知识库 FAQ、话术、制度、文档、SOP 集中沉淀，解决"经验散落"。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4828031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[B] 企业智能体 企微/飞书机器人或内部网页入口，让员工直接问、直接用。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6126479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[C] AI 能力中心 1-2 人负责场景挖掘、工具配置、培训赋能和效果复盘。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19 · 先别上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Stop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不适合场景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19 · 先别上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不是所有问题都适合马上用 AI 解决。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流程本身混乱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15184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数据质量太差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62656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高风险决策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10127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非标情况多、规则经常变、分公司差异大。先优化流程，再谈 AI。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59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关键信息散落在微信、邮件、个人电脑。至少先做集中存储和基础治理。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0507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涉及合规、财务、人事、重大客户承诺。AI 做辅助，最终由人决策。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52544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[01] 流程本身混乱 非标情况多、规则经常变、分公司差异大。先优化流程，再谈 AI。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4352544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[02] 数据质量太差 关键信息散落在微信、邮件、个人电脑。至少先做集中存储和基础治理。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650992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[03] 高风险决策 涉及合规、财务、人事、重大客户承诺。AI 做辅助，最终由人决策。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20 · 四个坑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Implementation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避坑指南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20 · 四个坑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AI 落地最容易死在这些地方。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让员工学太多工具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15184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忽视数据安全与合规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62656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员工抵触或工具闲置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10127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没有内部负责人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59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统一入口，只教 1-2 个核心工具，提供模板和提示词库。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0507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统一 API 调用、脱敏、审计，制定企业 AI 使用安全规范。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强调辅助而非替代，给试点员工正向激励，把提效纳入创新加分。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00016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外部课程讲完就走，企业必须培养 1 名内部 AI 推进者。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47488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[坑一] 让员工学太多工具 统一入口，只教 1-2 个核心工具，提供模板和提示词库。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5047488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[坑二] 忽视数据安全与合规 统一 API 调用、脱敏、审计，制定企业 AI 使用安全规范。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345936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[坑三] 员工抵触或工具闲置 强调辅助而非替代，给试点员工正向激励，把提效纳入创新加分。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6345936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[坑四] 没有内部负责人 外部课程讲完就走，企业必须培养 1 名内部 AI 推进者。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21 · 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Payroll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正面案例：薪酬提效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21 · 真实案例 · 正面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薪酬核算：把"流程重构"交给业务，把"执行"交给 AI。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子公司、阿米巴、人力流动大、考勤复杂 — 薪酬核算极度繁琐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15184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抽离核心业务流程 → 规范化 → 具体化 → 流程化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62656"/>
            <a:ext cx="8138160" cy="457200"/>
          </a:xfrm>
          <a:prstGeom prst="roundRect">
            <a:avLst/>
          </a:prstGeom>
          <a:solidFill>
            <a:srgbClr val="2A3455"/>
          </a:solidFill>
          <a:ln w="1524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EAD4A5"/>
                </a:solidFill>
                <a:latin typeface="Microsoft YaHei"/>
              </a:rPr>
              <a:t>关键：先梳理清楚业务规则，再让 AI 执行。规则越清晰，AI 越可靠。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38144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2DCD0"/>
                </a:solidFill>
                <a:latin typeface="Microsoft YaHei"/>
              </a:rPr>
              <a:t>• 多个子公司独立核算，规则各有不同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94176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2DCD0"/>
                </a:solidFill>
                <a:latin typeface="Microsoft YaHei"/>
              </a:rPr>
              <a:t>• 阿米巴单元变动频繁，人力归属交叉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50208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2DCD0"/>
                </a:solidFill>
                <a:latin typeface="Microsoft YaHei"/>
              </a:rPr>
              <a:t>• 人力流动大，入离职时间交错重叠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2DCD0"/>
                </a:solidFill>
                <a:latin typeface="Microsoft YaHei"/>
              </a:rPr>
              <a:t>• 考勤规则复杂，跨部门差异明显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62272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2DCD0"/>
                </a:solidFill>
                <a:latin typeface="Microsoft YaHei"/>
              </a:rPr>
              <a:t>• 先把业务规则梳理为标准化流程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18304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2DCD0"/>
                </a:solidFill>
                <a:latin typeface="Microsoft YaHei"/>
              </a:rPr>
              <a:t>• 再把具体化的执行步骤交给 AI 完成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74336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2DCD0"/>
                </a:solidFill>
                <a:latin typeface="Microsoft YaHei"/>
              </a:rPr>
              <a:t>• AI 按规则自动核算、校验、生成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30368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2DCD0"/>
                </a:solidFill>
                <a:latin typeface="Microsoft YaHei"/>
              </a:rPr>
              <a:t>• 交付给我们的：就是具体的薪酬文件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[挑战] 子公司、阿米巴、人力流动大、考勤复杂 — 薪酬核算极度繁琐 多个子公司独立核算，规则各有不同 阿米巴单元变动频繁，人力归属交叉 人力流动大，入离职时间交错重叠 考勤规则复杂，跨部门差异明显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5486400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[解法] 抽离核心业务流程 → 规范化 → 具体化 → 流程化 先把业务规则梳理为标准化流程 再把具体化的执行步骤交给 AI 完成 AI 按规则自动核算、校验、生成 交付给我们的：就是具体的薪酬文件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22 · 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When To Hold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反面案例：什么不该让AI做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22 · 真实案例 · 反面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不是所有问题都值得用 AI 解决，先问值不值得。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流程复杂、频繁变动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15184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非标准化决策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62656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ECE3"/>
                </a:solidFill>
                <a:latin typeface="Microsoft YaHei"/>
              </a:rPr>
              <a:t>投入产出不清晰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10127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排班规则、加班政策、调休流程经常因业务调整变化，AI 还没学会，规则又改了。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59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涉及人的主观判断、特殊审批、边界模糊的场景，AI 难以替代人的经验和判断力。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0507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DCD0"/>
                </a:solidFill>
                <a:latin typeface="Microsoft YaHei"/>
              </a:rPr>
              <a:t>如果流程重构本身的成本 &gt; 人工成本，或者业务不确定性太高，应该暂时搁置。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52544"/>
            <a:ext cx="8138160" cy="457200"/>
          </a:xfrm>
          <a:prstGeom prst="roundRect">
            <a:avLst/>
          </a:prstGeom>
          <a:solidFill>
            <a:srgbClr val="2A3455"/>
          </a:solidFill>
          <a:ln w="1524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EAD4A5"/>
                </a:solidFill>
                <a:latin typeface="Microsoft YaHei"/>
              </a:rPr>
              <a:t>先判断"值不值得改变流程、符不符合公司实际情况"，再决定要不要上 AI。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28031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D4A5"/>
                </a:solidFill>
                <a:latin typeface="Microsoft YaHei"/>
              </a:rPr>
              <a:t>→ 先问：值不值得先把流程固定下来？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84064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D4A5"/>
                </a:solidFill>
                <a:latin typeface="Microsoft YaHei"/>
              </a:rPr>
              <a:t>→ 先问：这个决策有没有清晰的判断标准？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0096"/>
            <a:ext cx="7589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D4A5"/>
                </a:solidFill>
                <a:latin typeface="Microsoft YaHei"/>
              </a:rPr>
              <a:t>→ 原则：酌情考虑，不盲目上 AI。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96128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[考勤] 流程复杂、频繁变动 排班规则、加班政策、调休流程经常因业务调整变化，AI 还没学会，规则又改了。 先问：值不值得先把流程固定下来？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5596128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[例外] 非标准化决策 涉及人的主观判断、特殊审批、边界模糊的场景，AI 难以替代人的经验和判断力。 先问：这个决策有没有清晰的判断标准？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894576"/>
            <a:ext cx="3794760" cy="1188720"/>
          </a:xfrm>
          <a:prstGeom prst="roundRect">
            <a:avLst/>
          </a:prstGeom>
          <a:solidFill>
            <a:srgbClr val="242F50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00" b="1">
                <a:solidFill>
                  <a:srgbClr val="E2DCD0"/>
                </a:solidFill>
                <a:latin typeface="Microsoft YaHei"/>
              </a:rPr>
              <a:t>[成本] 投入产出不清晰 如果流程重构本身的成本 &gt; 人工成本，或者业务不确定性太高，应该暂时搁置。 原则：酌情考虑，不盲目上 AI。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23 · 现场诊断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One-Page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一张纸工作坊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23 · 现场诊断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一张纸，找出你的第一个 AI 场景。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67712"/>
            <a:ext cx="8138160" cy="457200"/>
          </a:xfrm>
          <a:prstGeom prst="roundRect">
            <a:avLst/>
          </a:prstGeom>
          <a:solidFill>
            <a:srgbClr val="2A3455"/>
          </a:solidFill>
          <a:ln w="1524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EAD4A5"/>
                </a:solidFill>
                <a:latin typeface="Microsoft YaHei"/>
              </a:rPr>
              <a:t>现场选 2-3 位老板，一起判断：是否适合试点、规则是否清晰、风险和成本边界在哪。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24 · 企业 AI 成熟度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Readiness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成熟度自查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24 · 企业 AI 成熟度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先知道自己在哪个阶段，再决定下一步。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E2DCD0"/>
                </a:solidFill>
                <a:latin typeface="Microsoft YaHei"/>
              </a:rPr>
              <a:t>维度  0 分  1 分  2 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E2DCD0"/>
                </a:solidFill>
                <a:latin typeface="Microsoft YaHei"/>
              </a:rPr>
              <a:t>流程  靠人记  有部分 SOP  流程清晰可复用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70048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E2DCD0"/>
                </a:solidFill>
                <a:latin typeface="Microsoft YaHei"/>
              </a:rPr>
              <a:t>数据  散落各处  部分集中  结构化且可授权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71216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E2DCD0"/>
                </a:solidFill>
                <a:latin typeface="Microsoft YaHei"/>
              </a:rPr>
              <a:t>工具  个人尝鲜  部门试点  统一入口与账号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72384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E2DCD0"/>
                </a:solidFill>
                <a:latin typeface="Microsoft YaHei"/>
              </a:rPr>
              <a:t>组织  没人负责  兼职推进  明确负责人和机制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73552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E2DCD0"/>
                </a:solidFill>
                <a:latin typeface="Microsoft YaHei"/>
              </a:rPr>
              <a:t>ROI  无法衡量  粗略估算  按月复盘收益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74720"/>
            <a:ext cx="1828800" cy="274320"/>
          </a:xfrm>
          <a:prstGeom prst="roundRect">
            <a:avLst/>
          </a:prstGeom>
          <a:solidFill>
            <a:srgbClr val="232F55"/>
          </a:solidFill>
          <a:ln w="381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EAD4A5"/>
                </a:solidFill>
                <a:latin typeface="Arial"/>
              </a:rPr>
              <a:t>0-3：先治理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4760"/>
            <a:ext cx="1828800" cy="274320"/>
          </a:xfrm>
          <a:prstGeom prst="roundRect">
            <a:avLst/>
          </a:prstGeom>
          <a:solidFill>
            <a:srgbClr val="232F55"/>
          </a:solidFill>
          <a:ln w="381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EAD4A5"/>
                </a:solidFill>
                <a:latin typeface="Arial"/>
              </a:rPr>
              <a:t>4-7：先试点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14800"/>
            <a:ext cx="1828800" cy="274320"/>
          </a:xfrm>
          <a:prstGeom prst="roundRect">
            <a:avLst/>
          </a:prstGeom>
          <a:solidFill>
            <a:srgbClr val="232F55"/>
          </a:solidFill>
          <a:ln w="381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EAD4A5"/>
                </a:solidFill>
                <a:latin typeface="Arial"/>
              </a:rPr>
              <a:t>8-10：可复制扩展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25 · 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Three Owner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25 · 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老板只需做三件事。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67712"/>
            <a:ext cx="8138160" cy="640080"/>
          </a:xfrm>
          <a:prstGeom prst="roundRect">
            <a:avLst/>
          </a:prstGeom>
          <a:solidFill>
            <a:srgbClr val="2A3455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300" b="1">
                <a:solidFill>
                  <a:srgbClr val="F0ECE3"/>
                </a:solidFill>
                <a:latin typeface="Microsoft YaHei"/>
              </a:rPr>
              <a:t>AI 转型不是从买工具开始，而是从找到一个能算清账的重复流程开始。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8A870"/>
                </a:solidFill>
                <a:latin typeface="Arial"/>
              </a:rPr>
              <a:t>26 ·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6A1B5"/>
                </a:solidFill>
                <a:latin typeface="Arial"/>
              </a:rPr>
              <a:t>Final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0ECE3"/>
                </a:solidFill>
                <a:latin typeface="Microsoft YaHei"/>
              </a:rPr>
              <a:t>收束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914400" cy="36576"/>
          </a:xfrm>
          <a:prstGeom prst="rect">
            <a:avLst/>
          </a:prstGeom>
          <a:solidFill>
            <a:srgbClr val="C8A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870"/>
                </a:solidFill>
                <a:latin typeface="Arial"/>
              </a:rPr>
              <a:t>26 · 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ECE3"/>
                </a:solidFill>
                <a:latin typeface="Microsoft YaHei"/>
              </a:rPr>
              <a:t>最后，把 AI 转型说成一句话。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67712"/>
            <a:ext cx="8138160" cy="640080"/>
          </a:xfrm>
          <a:prstGeom prst="roundRect">
            <a:avLst/>
          </a:prstGeom>
          <a:solidFill>
            <a:srgbClr val="2A3455"/>
          </a:solidFill>
          <a:ln w="6350">
            <a:solidFill>
              <a:srgbClr val="23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300" b="1">
                <a:solidFill>
                  <a:srgbClr val="F0ECE3"/>
                </a:solidFill>
                <a:latin typeface="Microsoft YaHei"/>
              </a:rPr>
              <a:t>不是让每个员工都变成 AI 专家，而是让每个重复流程，都有机会被重新设计一遍。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53512"/>
            <a:ext cx="8138160" cy="457200"/>
          </a:xfrm>
          <a:prstGeom prst="roundRect">
            <a:avLst/>
          </a:prstGeom>
          <a:solidFill>
            <a:srgbClr val="2A3455"/>
          </a:solidFill>
          <a:ln w="15240">
            <a:solidFill>
              <a:srgbClr val="C8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EAD4A5"/>
                </a:solidFill>
                <a:latin typeface="Microsoft YaHei"/>
              </a:rPr>
              <a:t>先跑通一个场景，再复制一套方法。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6A1B5"/>
                </a:solidFill>
                <a:latin typeface="Arial"/>
              </a:rPr>
              <a:t>Enterprise AI Playbook 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6A1B5"/>
                </a:solidFill>
                <a:latin typeface="Arial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